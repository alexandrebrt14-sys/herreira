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8860B"/>
                </a:solidFill>
                <a:latin typeface="Calibri"/>
              </a:defRPr>
            </a:pPr>
            <a:r>
              <a:t>HERREIRA JOIAS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Transformacao Cultural:</a:t>
            </a:r>
            <a:br/>
            <a:r>
              <a:t>O Pilar Invisivel do Crescimento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5E6C8"/>
                </a:solidFill>
                <a:latin typeface="Calibri"/>
              </a:defRPr>
            </a:pPr>
            <a:r>
              <a:t>Estrategias para alinhar cultura, pessoas e resultado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860B"/>
                </a:solidFill>
                <a:latin typeface="Georgia"/>
              </a:defRPr>
            </a:pPr>
            <a:r>
              <a:t>"A cultura come a estrategia no cafe da manha."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— Peter Drucker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Assessoria Brasil GEO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0B"/>
                </a:solidFill>
                <a:latin typeface="Calibri"/>
              </a:defRPr>
            </a:pPr>
            <a:r>
              <a:t>POR QUE CULTURA IMPORTA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Georgia"/>
              </a:defRPr>
            </a:pPr>
            <a:r>
              <a:t>Cultura: o ativo que ninguem ve</a:t>
            </a:r>
            <a:br/>
            <a:r>
              <a:t>mas que define tudo.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Empresas com cultura forte crescem 3x mais rapido que concorrentes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70% dos CEOs consideram cultura mais importante que estrategia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+20% de produtividade em organizacoes com valores claros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Cultura reduz turnover em ate 40% — economia direta em 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R$ 12,1M de receita na Herreira (+26,8%)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Mas prejuizo de R$ 273K no grupo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Zero politicas de RH, zero avaliacao de desempenho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O crescimento sem cultura e insustentavel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860B"/>
                </a:solidFill>
                <a:latin typeface="Georgia"/>
              </a:defRPr>
            </a:pPr>
            <a:r>
              <a:t>"As pessoas certas nos lugares certos fazem as coisas certas."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— Jim Collins, Good to Great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0B"/>
                </a:solidFill>
                <a:latin typeface="Calibri"/>
              </a:defRPr>
            </a:pPr>
            <a:r>
              <a:t>DADOS QUE COMPROVAM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Georgia"/>
              </a:defRPr>
            </a:pPr>
            <a:r>
              <a:t>O custo de ignorar a cultura e mensuravel.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B8860B"/>
                </a:solidFill>
                <a:latin typeface="Georgia"/>
              </a:defRPr>
            </a:pPr>
            <a:r>
              <a:t>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mais chance de crescer</a:t>
            </a:r>
            <a:br/>
            <a:r>
              <a:t>com cultura forte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286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B8860B"/>
                </a:solidFill>
                <a:latin typeface="Georgia"/>
              </a:defRPr>
            </a:pPr>
            <a:r>
              <a:t>R$ 1,4M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108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perdidos por ano</a:t>
            </a:r>
            <a:br/>
            <a:r>
              <a:t>na Herreira por ineficiencia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B8860B"/>
                </a:solidFill>
                <a:latin typeface="Georgia"/>
              </a:defRPr>
            </a:pPr>
            <a: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108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reducao de turnover</a:t>
            </a:r>
            <a:br/>
            <a:r>
              <a:t>com valores claros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286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B8860B"/>
                </a:solidFill>
                <a:latin typeface="Georgia"/>
              </a:defRPr>
            </a:pPr>
            <a:r>
              <a:t>3x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3108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mais receita em empresas</a:t>
            </a:r>
            <a:br/>
            <a:r>
              <a:t>com cultura solida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860B"/>
                </a:solidFill>
                <a:latin typeface="Georgia"/>
              </a:defRPr>
            </a:pPr>
            <a:r>
              <a:t>"O que e medido, e gerenciado."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— Peter Drucker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0B"/>
                </a:solidFill>
                <a:latin typeface="Calibri"/>
              </a:defRPr>
            </a:pPr>
            <a:r>
              <a:t>A HISTORIA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Georgia"/>
              </a:defRPr>
            </a:pPr>
            <a:r>
              <a:t>De montagem de semijoias</a:t>
            </a:r>
            <a:br/>
            <a:r>
              <a:t>a R$ 12 milhoes em receita.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2008 — Patricia e Alexandre Caramaschi fundam a Herreira em Goiania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2011 — Investem R$ 1 milhao em fabrica propria de semijoias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110 funcionarios, vendas para todos os estados + EUA e Europa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10-15 mil pecas/mes no atacado, presenca em novelas da Globo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Marcas: Herreira + Aulore + Vitesse (Grupo HAV)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56 anos de tradicao no mercado joalheiro de Goiania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Celebridades como Monique Alfradique vestem Herreira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Crescimento de 26,8% em 2025 — o melhor ano da Herreira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Mas o grupo esta em prejuizo: hora de profissionalizar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860B"/>
                </a:solidFill>
                <a:latin typeface="Georgia"/>
              </a:defRPr>
            </a:pPr>
            <a:r>
              <a:t>"Os resultados sao obtidos pela exploracao de oportunidades, nao pela solucao de problemas."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— Peter Drucker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Calibri"/>
              </a:defRPr>
            </a:pPr>
            <a:r>
              <a:t>DIAGNOSTICO: RECURSOS HUMANOS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Georgia"/>
              </a:defRPr>
            </a:pPr>
            <a:r>
              <a:t>Zero politicas. Zero avaliacoes.</a:t>
            </a:r>
            <a:br/>
            <a:r>
              <a:t>Zero plano de carreira.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C2626"/>
                </a:solidFill>
                <a:latin typeface="Calibri"/>
              </a:defRPr>
            </a:pPr>
            <a:r>
              <a:t>0 programas de capacitacao ou cursos</a:t>
            </a:r>
          </a:p>
          <a:p>
            <a:pPr>
              <a:spcAft>
                <a:spcPts val="800"/>
              </a:spcAft>
              <a:defRPr sz="1400">
                <a:solidFill>
                  <a:srgbClr val="DC2626"/>
                </a:solidFill>
                <a:latin typeface="Calibri"/>
              </a:defRPr>
            </a:pPr>
            <a:r>
              <a:t>0 mecanismos de retencao de talentos</a:t>
            </a:r>
          </a:p>
          <a:p>
            <a:pPr>
              <a:spcAft>
                <a:spcPts val="800"/>
              </a:spcAft>
              <a:defRPr sz="1400">
                <a:solidFill>
                  <a:srgbClr val="DC2626"/>
                </a:solidFill>
                <a:latin typeface="Calibri"/>
              </a:defRPr>
            </a:pPr>
            <a:r>
              <a:t>0 pesquisa de clima organizacional</a:t>
            </a:r>
          </a:p>
          <a:p>
            <a:pPr>
              <a:spcAft>
                <a:spcPts val="800"/>
              </a:spcAft>
              <a:defRPr sz="1400">
                <a:solidFill>
                  <a:srgbClr val="DC2626"/>
                </a:solidFill>
                <a:latin typeface="Calibri"/>
              </a:defRPr>
            </a:pPr>
            <a:r>
              <a:t>0 avaliacao de desempenho estruturada</a:t>
            </a:r>
          </a:p>
          <a:p>
            <a:pPr>
              <a:spcAft>
                <a:spcPts val="800"/>
              </a:spcAft>
              <a:defRPr sz="1400">
                <a:solidFill>
                  <a:srgbClr val="DC2626"/>
                </a:solidFill>
                <a:latin typeface="Calibri"/>
              </a:defRPr>
            </a:pPr>
            <a:r>
              <a:t>0 plano de carreira para colaboradores</a:t>
            </a:r>
          </a:p>
          <a:p>
            <a:pPr>
              <a:spcAft>
                <a:spcPts val="800"/>
              </a:spcAft>
              <a:defRPr sz="1400">
                <a:solidFill>
                  <a:srgbClr val="DC2626"/>
                </a:solidFill>
                <a:latin typeface="Calibri"/>
              </a:defRPr>
            </a:pPr>
            <a:r>
              <a:t>0 desenvolvimento de liderancas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50292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Impacto: alto turnover, baixa produtividade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Custo invisivel: contratacao + treinamento repetido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Aulore: pessoal consome 38,5% da receita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Sem comunicacao interna estruturada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Sem mecanismo de valorizacao 'Prata da Casa'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860B"/>
                </a:solidFill>
                <a:latin typeface="Georgia"/>
              </a:defRPr>
            </a:pPr>
            <a:r>
              <a:t>"Nao ha nada tao inutil quanto fazer com grande eficiencia algo que nao deveria ser feito."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— Peter Drucker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Calibri"/>
              </a:defRPr>
            </a:pPr>
            <a:r>
              <a:t>DIAGNOSTICO: GOVERNANCA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Georgia"/>
              </a:defRPr>
            </a:pPr>
            <a:r>
              <a:t>A unica coisa que funciona:</a:t>
            </a:r>
            <a:br/>
            <a:r>
              <a:t>separacao patrimonial.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E844A"/>
                </a:solidFill>
                <a:latin typeface="Calibri"/>
              </a:defRPr>
            </a:pPr>
            <a:r>
              <a:t>Separacao empresa/socias: nota 10/10</a:t>
            </a:r>
          </a:p>
          <a:p>
            <a:pPr>
              <a:spcAft>
                <a:spcPts val="800"/>
              </a:spcAft>
              <a:defRPr sz="1400">
                <a:solidFill>
                  <a:srgbClr val="2E844A"/>
                </a:solidFill>
                <a:latin typeface="Calibri"/>
              </a:defRPr>
            </a:pPr>
            <a:r>
              <a:t>Impostos em dia: zero atrasados</a:t>
            </a:r>
          </a:p>
          <a:p>
            <a:pPr>
              <a:spcAft>
                <a:spcPts val="800"/>
              </a:spcAft>
              <a:defRPr sz="1400">
                <a:solidFill>
                  <a:srgbClr val="2E844A"/>
                </a:solidFill>
                <a:latin typeface="Calibri"/>
              </a:defRPr>
            </a:pPr>
            <a:r>
              <a:t>Financiamentos regulares e pagos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50292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C2626"/>
                </a:solidFill>
                <a:latin typeface="Calibri"/>
              </a:defRPr>
            </a:pPr>
            <a:r>
              <a:t>Zero compliance, zero auditoria</a:t>
            </a:r>
          </a:p>
          <a:p>
            <a:pPr>
              <a:spcAft>
                <a:spcPts val="800"/>
              </a:spcAft>
              <a:defRPr sz="1400">
                <a:solidFill>
                  <a:srgbClr val="DC2626"/>
                </a:solidFill>
                <a:latin typeface="Calibri"/>
              </a:defRPr>
            </a:pPr>
            <a:r>
              <a:t>LGPD nao implementada (multa ate R$ 50M)</a:t>
            </a:r>
          </a:p>
          <a:p>
            <a:pPr>
              <a:spcAft>
                <a:spcPts val="800"/>
              </a:spcAft>
              <a:defRPr sz="1400">
                <a:solidFill>
                  <a:srgbClr val="DC2626"/>
                </a:solidFill>
                <a:latin typeface="Calibri"/>
              </a:defRPr>
            </a:pPr>
            <a:r>
              <a:t>Sem mapa de gestao de riscos</a:t>
            </a:r>
          </a:p>
          <a:p>
            <a:pPr>
              <a:spcAft>
                <a:spcPts val="800"/>
              </a:spcAft>
              <a:defRPr sz="1400">
                <a:solidFill>
                  <a:srgbClr val="DC2626"/>
                </a:solidFill>
                <a:latin typeface="Calibri"/>
              </a:defRPr>
            </a:pPr>
            <a:r>
              <a:t>Sem programa de sucessao familiar</a:t>
            </a:r>
          </a:p>
          <a:p>
            <a:pPr>
              <a:spcAft>
                <a:spcPts val="800"/>
              </a:spcAft>
              <a:defRPr sz="1400">
                <a:solidFill>
                  <a:srgbClr val="DC2626"/>
                </a:solidFill>
                <a:latin typeface="Calibri"/>
              </a:defRPr>
            </a:pPr>
            <a:r>
              <a:t>Codigo de conduta pouco divulgado (nota 4/10)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860B"/>
                </a:solidFill>
                <a:latin typeface="Georgia"/>
              </a:defRPr>
            </a:pPr>
            <a:r>
              <a:t>"Gerenciar e fazer as coisas direito. Liderar e fazer as coisas certas."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— Peter Drucker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Calibri"/>
              </a:defRPr>
            </a:pPr>
            <a:r>
              <a:t>O PROBLEMA CENTRAL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Georgia"/>
              </a:defRPr>
            </a:pPr>
            <a:r>
              <a:t>Socias retiram mais do que</a:t>
            </a:r>
            <a:br/>
            <a:r>
              <a:t>a empresa consegue gerar.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8860B"/>
                </a:solidFill>
                <a:latin typeface="Georgia"/>
              </a:defRPr>
            </a:pPr>
            <a:r>
              <a:t>Herreira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844A"/>
                </a:solidFill>
                <a:latin typeface="Calibri"/>
              </a:defRPr>
            </a:pPr>
            <a:r>
              <a:t>Payout: -60,9%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Calibri"/>
              </a:defRPr>
            </a:pPr>
            <a:r>
              <a:t>Controlavel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8860B"/>
                </a:solidFill>
                <a:latin typeface="Georgia"/>
              </a:defRPr>
            </a:pPr>
            <a:r>
              <a:t>Aulore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Payout: -363%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Calibri"/>
              </a:defRPr>
            </a:pPr>
            <a:r>
              <a:t>CRITICO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8860B"/>
                </a:solidFill>
                <a:latin typeface="Georgia"/>
              </a:defRPr>
            </a:pPr>
            <a:r>
              <a:t>Vitesse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Payout: -230%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Calibri"/>
              </a:defRPr>
            </a:pPr>
            <a:r>
              <a:t>CRITICO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Resultado: descapitalizacao progressiva. Pro labore total das 3 socias: R$ 1,6M/ano.</a:t>
            </a:r>
            <a:br/>
            <a:r>
              <a:t>Lucro operacional do grupo: R$ 1,5M. Prejuizo apos retiradas: -R$ 273K.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860B"/>
                </a:solidFill>
                <a:latin typeface="Georgia"/>
              </a:defRPr>
            </a:pPr>
            <a:r>
              <a:t>"Lucro nao e um objetivo. E uma condicao necessaria para a sobrevivencia."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— Peter Drucker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0B"/>
                </a:solidFill>
                <a:latin typeface="Calibri"/>
              </a:defRPr>
            </a:pPr>
            <a:r>
              <a:t>O CUSTO DA INACAO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R$ 1,4 milhao por ano.</a:t>
            </a:r>
            <a:br/>
            <a:r>
              <a:t>Esse e o preco de nao mudar.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8860B"/>
                </a:solidFill>
                <a:latin typeface="Georgia"/>
              </a:defRPr>
            </a:pPr>
            <a:r>
              <a:t>R$ 760K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E6C8"/>
                </a:solidFill>
                <a:latin typeface="Calibri"/>
              </a:defRPr>
            </a:pPr>
            <a:r>
              <a:t>Custos de produto</a:t>
            </a:r>
            <a:br/>
            <a:r>
              <a:t>acima do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5603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8860B"/>
                </a:solidFill>
                <a:latin typeface="Georgia"/>
              </a:defRPr>
            </a:pPr>
            <a:r>
              <a:t>R$ 366K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3291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E6C8"/>
                </a:solidFill>
                <a:latin typeface="Calibri"/>
              </a:defRPr>
            </a:pPr>
            <a:r>
              <a:t>Ineficiencia</a:t>
            </a:r>
            <a:br/>
            <a:r>
              <a:t>em pessoal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5603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8860B"/>
                </a:solidFill>
                <a:latin typeface="Georgia"/>
              </a:defRPr>
            </a:pPr>
            <a:r>
              <a:t>R$ 360K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291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E6C8"/>
                </a:solidFill>
                <a:latin typeface="Calibri"/>
              </a:defRPr>
            </a:pPr>
            <a:r>
              <a:t>Despesas financeiras</a:t>
            </a:r>
            <a:br/>
            <a:r>
              <a:t>renegociaveis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860B"/>
                </a:solidFill>
                <a:latin typeface="Georgia"/>
              </a:defRPr>
            </a:pPr>
            <a:r>
              <a:t>"Se voce quer algo novo, voce precisa parar de fazer algo velho."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— Peter Drucker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0B"/>
                </a:solidFill>
                <a:latin typeface="Calibri"/>
              </a:defRPr>
            </a:pPr>
            <a:r>
              <a:t>O QUE MUDAR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Georgia"/>
              </a:defRPr>
            </a:pPr>
            <a:r>
              <a:t>6 pilares para transformar</a:t>
            </a:r>
            <a:br/>
            <a:r>
              <a:t>a cultura da Herreira.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860B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2C2C"/>
                </a:solidFill>
                <a:latin typeface="Calibri"/>
              </a:defRPr>
            </a:pPr>
            <a:r>
              <a:t>Valores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Definir e comunicar os valores que guiam decisoes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860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2C2C"/>
                </a:solidFill>
                <a:latin typeface="Calibri"/>
              </a:defRPr>
            </a:pPr>
            <a:r>
              <a:t>Rituais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Reunioes mensais de resultado, celebracoes, feedbacks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860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2C2C"/>
                </a:solidFill>
                <a:latin typeface="Calibri"/>
              </a:defRPr>
            </a:pPr>
            <a:r>
              <a:t>Metricas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KPIs por funcao, avaliacao de desempenho trimestral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860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2C2C"/>
                </a:solidFill>
                <a:latin typeface="Calibri"/>
              </a:defRPr>
            </a:pPr>
            <a:r>
              <a:t>Lideranca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Desenvolver gestoras como exemplos vivos da cultura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114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860B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2C2C"/>
                </a:solidFill>
                <a:latin typeface="Calibri"/>
              </a:defRPr>
            </a:pPr>
            <a:r>
              <a:t>Desenvolvimento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Capacitacao continua, plano de carreira, mentoria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114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860B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2C2C"/>
                </a:solidFill>
                <a:latin typeface="Calibri"/>
              </a:defRPr>
            </a:pPr>
            <a:r>
              <a:t>Reconhecimento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Programa Prata da Casa, bonus por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0B"/>
                </a:solidFill>
                <a:latin typeface="Calibri"/>
              </a:defRPr>
            </a:pPr>
            <a:r>
              <a:t>PLANO DE ACAO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Georgia"/>
              </a:defRPr>
            </a:pPr>
            <a:r>
              <a:t>90 dias para reverter o prejuizo</a:t>
            </a:r>
            <a:br/>
            <a:r>
              <a:t>e construir a base cultural.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860B"/>
                </a:solidFill>
                <a:latin typeface="Calibri"/>
              </a:defRPr>
            </a:pPr>
            <a:r>
              <a:t>Semana 1-4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C2C"/>
                </a:solidFill>
                <a:latin typeface="Calibri"/>
              </a:defRPr>
            </a:pPr>
            <a:r>
              <a:t>Diagnostico + financeiro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Mapear custos, renegociar dividas, limitar pro labore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860B"/>
                </a:solidFill>
                <a:latin typeface="Calibri"/>
              </a:defRPr>
            </a:pPr>
            <a:r>
              <a:t>Semana 2-6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834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C2C"/>
                </a:solidFill>
                <a:latin typeface="Calibri"/>
              </a:defRPr>
            </a:pPr>
            <a:r>
              <a:t>CRM + pos-venda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8346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Implementar CRM, NPS, reativar clientes inativos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860B"/>
                </a:solidFill>
                <a:latin typeface="Calibri"/>
              </a:defRPr>
            </a:pPr>
            <a:r>
              <a:t>Semana 3-8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C2C"/>
                </a:solidFill>
                <a:latin typeface="Calibri"/>
              </a:defRPr>
            </a:pPr>
            <a:r>
              <a:t>Marketing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Instagram Shopping, Reels, Google Ads, influenciadoras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860B"/>
                </a:solidFill>
                <a:latin typeface="Calibri"/>
              </a:defRPr>
            </a:pPr>
            <a:r>
              <a:t>Semana 4-8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C2C"/>
                </a:solidFill>
                <a:latin typeface="Calibri"/>
              </a:defRPr>
            </a:pPr>
            <a:r>
              <a:t>Governanca basica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Rituais mensais, compliance, LGPD, mapa de riscos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860B"/>
                </a:solidFill>
                <a:latin typeface="Calibri"/>
              </a:defRPr>
            </a:pPr>
            <a:r>
              <a:t>Semana 6-10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7548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C2C"/>
                </a:solidFill>
                <a:latin typeface="Calibri"/>
              </a:defRPr>
            </a:pPr>
            <a:r>
              <a:t>Pessoas e cultura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7548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Manual do colaborador, avaliacao, plano de carreira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860B"/>
                </a:solidFill>
                <a:latin typeface="Calibri"/>
              </a:defRPr>
            </a:pPr>
            <a:r>
              <a:t>Semana 8-12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C2C"/>
                </a:solidFill>
                <a:latin typeface="Calibri"/>
              </a:defRPr>
            </a:pPr>
            <a:r>
              <a:t>Escala digital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E-commerce, marketplace, personal branding Paty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860B"/>
                </a:solidFill>
                <a:latin typeface="Georgia"/>
              </a:defRPr>
            </a:pPr>
            <a:r>
              <a:t>"Planejamento de longo prazo nao lida com decisoes futuras, mas com o futuro das decisoes atuais."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— Peter Drucker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0B"/>
                </a:solidFill>
                <a:latin typeface="Calibri"/>
              </a:defRPr>
            </a:pPr>
            <a:r>
              <a:t>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Georgia"/>
              </a:defRPr>
            </a:pPr>
            <a:r>
              <a:t>Herreira vs Vivara: onde</a:t>
            </a:r>
            <a:br/>
            <a:r>
              <a:t>a cultura faz a diferenca.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C2C"/>
                </a:solidFill>
                <a:latin typeface="Calibri"/>
              </a:defRPr>
            </a:pPr>
            <a:r>
              <a:t>Crescimento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860B"/>
                </a:solidFill>
                <a:latin typeface="Calibri"/>
              </a:defRPr>
            </a:pPr>
            <a:r>
              <a:t>+26,8%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+16,2%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844A"/>
                </a:solidFill>
                <a:latin typeface="Calibri"/>
              </a:defRPr>
            </a:pPr>
            <a:r>
              <a:t>Herreira GANHA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C2C"/>
                </a:solidFill>
                <a:latin typeface="Calibri"/>
              </a:defRPr>
            </a:pPr>
            <a:r>
              <a:t>Margem bruta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860B"/>
                </a:solidFill>
                <a:latin typeface="Calibri"/>
              </a:defRPr>
            </a:pPr>
            <a:r>
              <a:t>52,6%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70-74%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2626"/>
                </a:solidFill>
                <a:latin typeface="Calibri"/>
              </a:defRPr>
            </a:pPr>
            <a:r>
              <a:t>Gap de 18pp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C2C"/>
                </a:solidFill>
                <a:latin typeface="Calibri"/>
              </a:defRPr>
            </a:pPr>
            <a:r>
              <a:t>EBITDA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860B"/>
                </a:solidFill>
                <a:latin typeface="Calibri"/>
              </a:defRPr>
            </a:pPr>
            <a:r>
              <a:t>12,7%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25,5%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2626"/>
                </a:solidFill>
                <a:latin typeface="Calibri"/>
              </a:defRPr>
            </a:pPr>
            <a:r>
              <a:t>Gap de 13pp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C2C"/>
                </a:solidFill>
                <a:latin typeface="Calibri"/>
              </a:defRPr>
            </a:pPr>
            <a:r>
              <a:t>Margem liquida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860B"/>
                </a:solidFill>
                <a:latin typeface="Calibri"/>
              </a:defRPr>
            </a:pPr>
            <a:r>
              <a:t>-1,3%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25,4%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2626"/>
                </a:solidFill>
                <a:latin typeface="Calibri"/>
              </a:defRPr>
            </a:pPr>
            <a:r>
              <a:t>CRITICO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C2C"/>
                </a:solidFill>
                <a:latin typeface="Calibri"/>
              </a:defRPr>
            </a:pPr>
            <a:r>
              <a:t>E-commerce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860B"/>
                </a:solidFill>
                <a:latin typeface="Calibri"/>
              </a:defRPr>
            </a:pPr>
            <a:r>
              <a:t>Incipiente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Robusto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2626"/>
                </a:solidFill>
                <a:latin typeface="Calibri"/>
              </a:defRPr>
            </a:pPr>
            <a:r>
              <a:t>Gap critico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860B"/>
                </a:solidFill>
                <a:latin typeface="Georgia"/>
              </a:defRPr>
            </a:pPr>
            <a:r>
              <a:t>"Voce nao pode gerenciar o que nao pode medir."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— Peter Drucker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0B"/>
                </a:solidFill>
                <a:latin typeface="Calibri"/>
              </a:defRPr>
            </a:pPr>
            <a:r>
              <a:t>INSPIRACAO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A Vivara era uma joalheria familiar.</a:t>
            </a:r>
            <a:br/>
            <a:r>
              <a:t>Hoje esta na Nasdaq.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E6C8"/>
                </a:solidFill>
                <a:latin typeface="Calibri"/>
              </a:defRPr>
            </a:pPr>
            <a:r>
              <a:t>A Vivara foi fundada como joalheria familiar em 1962. Profissionalizou a gestao, implementou governanca corporativa, abriu capital em 2019 (VIVA3). Hoje fatura R$ 3,8 bilhoes com 400+ lojas. O caminho da Herreira nao precisa ser o IPO — mas a profissionalizacao da gestao e o primeiro passo para qualquer empresa familiar que quer crescer de forma sustentavel.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860B"/>
                </a:solidFill>
                <a:latin typeface="Georgia"/>
              </a:defRPr>
            </a:pPr>
            <a:r>
              <a:t>"Primeiro quem, depois o que. Coloque as pessoas certas no onibus."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— Jim Collins, Good to Great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0B"/>
                </a:solidFill>
                <a:latin typeface="Calibri"/>
              </a:defRPr>
            </a:pPr>
            <a:r>
              <a:t>PROJECAO FINANCEIRA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Georgia"/>
              </a:defRPr>
            </a:pPr>
            <a:r>
              <a:t>De prejuizo a lucro em 12 meses.</a:t>
            </a:r>
            <a:br/>
            <a:r>
              <a:t>Sem investimento adicional.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C2626"/>
                </a:solidFill>
                <a:latin typeface="Georgia"/>
              </a:defRPr>
            </a:pPr>
            <a:r>
              <a:t>-R$ 273K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6B"/>
                </a:solidFill>
                <a:latin typeface="Calibri"/>
              </a:defRPr>
            </a:pPr>
            <a:r>
              <a:t>Resultado atual</a:t>
            </a:r>
            <a:br/>
            <a:r>
              <a:t>(2025)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560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B8860B"/>
                </a:solidFill>
                <a:latin typeface="Georgia"/>
              </a:defRPr>
            </a:pPr>
            <a:r>
              <a:t>+R$ 1,4M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6B"/>
                </a:solidFill>
                <a:latin typeface="Calibri"/>
              </a:defRPr>
            </a:pPr>
            <a:r>
              <a:t>Melhorias</a:t>
            </a:r>
            <a:br/>
            <a:r>
              <a:t>identificadas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560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844A"/>
                </a:solidFill>
                <a:latin typeface="Georgia"/>
              </a:defRPr>
            </a:pPr>
            <a:r>
              <a:t>+R$ 1,1M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6B"/>
                </a:solidFill>
                <a:latin typeface="Calibri"/>
              </a:defRPr>
            </a:pPr>
            <a:r>
              <a:t>Projecao</a:t>
            </a:r>
            <a:br/>
            <a:r>
              <a:t>(2026)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6B"/>
                </a:solidFill>
                <a:latin typeface="Calibri"/>
              </a:defRPr>
            </a:pPr>
            <a:r>
              <a:t>Investimento necessario: R$ 0 (gestao operacional) + R$ 3K-8K (governanca) + R$ 3K-8K/mes (marketing digital)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860B"/>
                </a:solidFill>
                <a:latin typeface="Georgia"/>
              </a:defRPr>
            </a:pPr>
            <a:r>
              <a:t>"A melhor maneira de prever o futuro e cria-lo."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— Peter Drucker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Georgia"/>
              </a:defRPr>
            </a:pPr>
            <a:r>
              <a:t>Cultura nao e o que voce</a:t>
            </a:r>
            <a:br/>
            <a:r>
              <a:t>escreve na parede.</a:t>
            </a:r>
            <a:br/>
            <a:r>
              <a:t>E o que acontece quando</a:t>
            </a:r>
            <a:br/>
            <a:r>
              <a:t>ninguem esta olhando.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860B"/>
                </a:solidFill>
                <a:latin typeface="Calibri"/>
              </a:defRPr>
            </a:pPr>
            <a:r>
              <a:t>— Adaptado de Peter Drucker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E6C8"/>
                </a:solidFill>
                <a:latin typeface="Calibri"/>
              </a:defRPr>
            </a:pPr>
            <a:r>
              <a:t>HERREIRA JOIAS  |  O proximo capitulo comeca agora.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Assessoria por Alexandre Caramaschi  |  CEO da Brasil GEO  |  alexandrecaramaschi.com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